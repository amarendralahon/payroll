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350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D2E3FC"/>
                </a:solidFill>
                <a:latin typeface="Segoe UI"/>
              </a:rPr>
              <a:t>Assam Agricultural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Segoe UI"/>
              </a:rPr>
              <a:t>Unified ERP &amp; Payroll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297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High-Level Design &amp; Requirement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0292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2E3FC"/>
                </a:solidFill>
                <a:latin typeface="Segoe UI"/>
              </a:rPr>
              <a:t>Discovery Findings  ·  Proposed Architecture  ·  Phasing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6035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ECBFA"/>
                </a:solidFill>
                <a:latin typeface="Segoe UI"/>
              </a:rPr>
              <a:t>Initial Study Report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02124"/>
                </a:solidFill>
                <a:latin typeface="Segoe UI"/>
              </a:rPr>
              <a:t>•  Project context &amp; objective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02124"/>
                </a:solidFill>
                <a:latin typeface="Segoe UI"/>
              </a:rPr>
              <a:t>•  Scope — three systems on one platform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02124"/>
                </a:solidFill>
                <a:latin typeface="Segoe UI"/>
              </a:rPr>
              <a:t>•  Proposed high-level architecture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02124"/>
                </a:solidFill>
                <a:latin typeface="Segoe UI"/>
              </a:rPr>
              <a:t>•  Salary → Bill → Disbursal workflow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02124"/>
                </a:solidFill>
                <a:latin typeface="Segoe UI"/>
              </a:rPr>
              <a:t>•  Master-driven (configurable) design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02124"/>
                </a:solidFill>
                <a:latin typeface="Segoe UI"/>
              </a:rPr>
              <a:t>•  Data, identifiers &amp; integrations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02124"/>
                </a:solidFill>
                <a:latin typeface="Segoe UI"/>
              </a:rPr>
              <a:t>•  Delivery phasing — what we build first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02124"/>
                </a:solidFill>
                <a:latin typeface="Segoe UI"/>
              </a:rPr>
              <a:t>•  Open clarifications &amp; risks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02124"/>
                </a:solidFill>
                <a:latin typeface="Segoe UI"/>
              </a:rPr>
              <a:t>• 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Segoe UI"/>
              </a:rPr>
              <a:t>Assam Agricultural University — ERP / Payroll  ·  High-Level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36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Project Context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2E3FC"/>
                </a:solidFill>
                <a:latin typeface="Segoe UI"/>
              </a:rPr>
              <a:t>Replace fragmented legacy systems with one web-based 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02124"/>
                </a:solidFill>
                <a:latin typeface="Segoe UI"/>
              </a:rPr>
              <a:t>•  Replacing today's separate systems: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–  Existing HRMS — faculty/employee master, service &amp; leave data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–  Existing Payroll — salary structure, deductions, bill generation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–  Finance processes — funds, budget, treasury (largely offline)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37333"/>
                </a:solidFill>
                <a:latin typeface="Segoe UI"/>
              </a:rPr>
              <a:t>•  Goal: one platform, single source of truth, full audit trail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–  HRMS is the only module 'properly used' today — strongest data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–  PAN + email act as the link between sub-systems &amp; external APIs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–  Master-driven: funds, heads, payscales, formulas all configurable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Segoe UI"/>
              </a:rPr>
              <a:t>Assam Agricultural University — ERP / Payroll  ·  High-Level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36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Scope — Three Systems, One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3566160" cy="64008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566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Payroll  (core)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566160" cy="338328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•  Master-driven salary calc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•  Dynamic deductions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•  Payslip + annual report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•  Bill generation + PDF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•  Loans, increments, arrears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554480"/>
            <a:ext cx="3566160" cy="6400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554480"/>
            <a:ext cx="3566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EFMS  (workflow)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194560"/>
            <a:ext cx="3566160" cy="338328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37744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•  E-file movement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•  6 user types · 3 access levels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•  Full lifecycle log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•  Reporting-officer alerts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•  Access-based routing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554480"/>
            <a:ext cx="3566160" cy="640080"/>
          </a:xfrm>
          <a:prstGeom prst="rect">
            <a:avLst/>
          </a:prstGeom>
          <a:solidFill>
            <a:srgbClr val="E3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566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FOC  (funds)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194560"/>
            <a:ext cx="3566160" cy="338328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37744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•  Multiple fund sources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•  Fund → head mapping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•  Ceiling / allocation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•  Purpose-bound spend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•  Budget vs utilization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Segoe UI"/>
              </a:rPr>
              <a:t>+ Supporting modules (phased): Pension · GPF · Claims · Asset/Estate · Store &amp; Purchase · Budget Mgmt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Segoe UI"/>
              </a:rPr>
              <a:t>Assam Agricultural University — ERP / Payroll  ·  High-Level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36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Proposed High-Level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2E3FC"/>
                </a:solidFill>
                <a:latin typeface="Segoe UI"/>
              </a:rPr>
              <a:t>Layered: Users → Access → Modules → Masters → Data → External</a:t>
            </a:r>
          </a:p>
        </p:txBody>
      </p:sp>
      <p:pic>
        <p:nvPicPr>
          <p:cNvPr id="6" name="Picture 5" descr="hl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499" y="1234440"/>
            <a:ext cx="2990697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Segoe UI"/>
              </a:rPr>
              <a:t>Assam Agricultural University — ERP / Payroll  ·  High-Level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36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Architecture — Layer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A73E8"/>
                </a:solidFill>
                <a:latin typeface="Segoe UI"/>
              </a:rPr>
              <a:t>•  Access &amp; RBAC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02124"/>
                </a:solidFill>
                <a:latin typeface="Segoe UI"/>
              </a:rPr>
              <a:t>–  Web portal + Employee Self-Service; identity via PAN/email; role-based access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A73E8"/>
                </a:solidFill>
                <a:latin typeface="Segoe UI"/>
              </a:rPr>
              <a:t>•  Application modules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02124"/>
                </a:solidFill>
                <a:latin typeface="Segoe UI"/>
              </a:rPr>
              <a:t>–  Core Payroll (calc engine, formula engine, deductions, payslip)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02124"/>
                </a:solidFill>
                <a:latin typeface="Segoe UI"/>
              </a:rPr>
              <a:t>–  HRMS (employee master, service book, leave, attendance, transfer/promotion)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02124"/>
                </a:solidFill>
                <a:latin typeface="Segoe UI"/>
              </a:rPr>
              <a:t>–  Finance (FOC/fund, bill + PDF, treasury interface, loans)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02124"/>
                </a:solidFill>
                <a:latin typeface="Segoe UI"/>
              </a:rPr>
              <a:t>–  Lifecycle/compliance (pension &amp; retirement, statutory/tax, claims)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A73E8"/>
                </a:solidFill>
                <a:latin typeface="Segoe UI"/>
              </a:rPr>
              <a:t>•  Cross-cutting services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02124"/>
                </a:solidFill>
                <a:latin typeface="Segoe UI"/>
              </a:rPr>
              <a:t>–  EFMS workflow &amp; approvals · notifications · audit log · reporting/analytics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A73E8"/>
                </a:solidFill>
                <a:latin typeface="Segoe UI"/>
              </a:rPr>
              <a:t>•  Master / Config + Data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02124"/>
                </a:solidFill>
                <a:latin typeface="Segoe UI"/>
              </a:rPr>
              <a:t>–  Dynamic masters (DDO, designation, grade, fund type, budget head, payscale, formulas)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02124"/>
                </a:solidFill>
                <a:latin typeface="Segoe UI"/>
              </a:rPr>
              <a:t>–  Data: employee/service, payroll history, fund ledger, JSON profiles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Segoe UI"/>
              </a:rPr>
              <a:t>Assam Agricultural University — ERP / Payroll  ·  High-Level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36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Salary → Bill → Disbursal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2E3FC"/>
                </a:solidFill>
                <a:latin typeface="Segoe UI"/>
              </a:rPr>
              <a:t>From attendance freeze to salary credit; retirement handoff to pension</a:t>
            </a:r>
          </a:p>
        </p:txBody>
      </p:sp>
      <p:pic>
        <p:nvPicPr>
          <p:cNvPr id="6" name="Picture 5" descr="salary_bill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2011680"/>
            <a:ext cx="11521440" cy="11496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F6368"/>
                </a:solidFill>
                <a:latin typeface="Segoe UI"/>
              </a:rPr>
              <a:t>Correction batches loop back to calc · returned bills re-enter at Accounts with reason · TA/DA stays manual (out of pay)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Segoe UI"/>
              </a:rPr>
              <a:t>Assam Agricultural University — ERP / Payroll  ·  High-Level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36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Master-Driven (Configurable)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2E3FC"/>
                </a:solidFill>
                <a:latin typeface="Segoe UI"/>
              </a:rPr>
              <a:t>The spine: a rule engine, not hard-coded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02124"/>
                </a:solidFill>
                <a:latin typeface="Segoe UI"/>
              </a:rPr>
              <a:t>•  Everything is a dynamic master entry, mapped together to form 'settings':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–  DDO · Designation · Grade · Fund Type · Budget Head · Discipline · Nature Type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–  Payscale → mapped to designation; Fund → Head; Designation → Fund Type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37333"/>
                </a:solidFill>
                <a:latin typeface="Segoe UI"/>
              </a:rPr>
              <a:t>•  Formula engine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–  Formulas created in master, mapped to heads ('head assign')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–  Deductions applied to all employees; breakup held in %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–  Increments &amp; corrections recomputed via formulas (changeable)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E37400"/>
                </a:solidFill>
                <a:latin typeface="Segoe UI"/>
              </a:rPr>
              <a:t>•  Why it matters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–  New heads/rules without code changes — but needs versioning + audit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–  Open: formula authoring rights, mid-year recompute policy (see risks)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Segoe UI"/>
              </a:rPr>
              <a:t>Assam Agricultural University — ERP / Payroll  ·  High-Level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36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Data, Identifiers &amp; 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A73E8"/>
                </a:solidFill>
                <a:latin typeface="Segoe UI"/>
              </a:rPr>
              <a:t>•  Identifiers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–  PAN + email = cross-system link; external APIs key on PAN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–  Risk: PAN must be unique &amp; present for all (incl. contractual/project)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73E8"/>
                </a:solidFill>
                <a:latin typeface="Segoe UI"/>
              </a:rPr>
              <a:t>•  Existing data assets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–  Employee personal/financial details (PAN, Aadhaar) for payroll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–  Faculty profile, qualification, employment &amp; research history in JSON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–  8 appraisal formats; transfer history (dept ↔ faculty shared keys)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37333"/>
                </a:solidFill>
                <a:latin typeface="Segoe UI"/>
              </a:rPr>
              <a:t>•  External systems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202124"/>
                </a:solidFill>
                <a:latin typeface="Segoe UI"/>
              </a:rPr>
              <a:t>–  Treasury · Bank · NPS/CRA · Income-Tax portal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02124"/>
                </a:solidFill>
                <a:latin typeface="Segoe UI"/>
              </a:rPr>
              <a:t>•  Retirement → handoff to pension dept; retirement age varies by cadre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Segoe UI"/>
              </a:rPr>
              <a:t>Assam Agricultural University — ERP / Payroll  ·  High-Level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36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Delivery Phasing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2E3FC"/>
                </a:solidFill>
                <a:latin typeface="Segoe UI"/>
              </a:rPr>
              <a:t>Quote the certain core; range the dependent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94960" cy="4206240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94960" cy="59436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394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Phase 1 — Build now (high confidence)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•  Master/config data foundation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•  Core payroll calc + formula engine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•  Deductions (GPF/NPS/GIS/LIC/Tax)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•  Payslip + annual report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•  Bill generation + PDF + approval flow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•  HRMS reuse (strongest existing data)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349240" cy="4206240"/>
          </a:xfrm>
          <a:prstGeom prst="rect">
            <a:avLst/>
          </a:prstGeom>
          <a:solidFill>
            <a:srgbClr val="FC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349240" cy="594360"/>
          </a:xfrm>
          <a:prstGeom prst="rect">
            <a:avLst/>
          </a:prstGeom>
          <a:solidFill>
            <a:srgbClr val="E3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554480"/>
            <a:ext cx="5349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Phase 2 — Dependent (price as range)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31720"/>
            <a:ext cx="4983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•  EFMS / full workflow engine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•  FOC + fund-source reconciliation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•  Pension &amp; retirement settlement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•  Loans (full lifecycle) &amp; claims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•  Offline modules (Asset/Estate, Store)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•  External API integrations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F6368"/>
                </a:solidFill>
                <a:latin typeface="Segoe UI"/>
              </a:rPr>
              <a:t>Rationale: Phase 2 carries the open unknowns (fund tracking, module reality) — don't fixed-price what's untracked.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Segoe UI"/>
              </a:rPr>
              <a:t>Assam Agricultural University — ERP / Payroll  ·  High-Level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36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Open Clarifications &amp;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2E3FC"/>
                </a:solidFill>
                <a:latin typeface="Segoe UI"/>
              </a:rPr>
              <a:t>To resolve in detailed requirement visit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E37400"/>
                </a:solidFill>
                <a:latin typeface="Segoe UI"/>
              </a:rPr>
              <a:t>•  Top contradictions to resolve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02124"/>
                </a:solidFill>
                <a:latin typeface="Segoe UI"/>
              </a:rPr>
              <a:t>–  Fund mapping claimed vs admitted 'gap in tracking actual fund source'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02124"/>
                </a:solidFill>
                <a:latin typeface="Segoe UI"/>
              </a:rPr>
              <a:t>–  Salary model: pay-grade-wise vs designation-wise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02124"/>
                </a:solidFill>
                <a:latin typeface="Segoe UI"/>
              </a:rPr>
              <a:t>–  Modules listed vs only HRMS 'properly used' (live vs aspirational)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02124"/>
                </a:solidFill>
                <a:latin typeface="Segoe UI"/>
              </a:rPr>
              <a:t>–  Formula governance: who edits, versioning, mid-year recompute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A73E8"/>
                </a:solidFill>
                <a:latin typeface="Segoe UI"/>
              </a:rPr>
              <a:t>•  Scope boundaries to fix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02124"/>
                </a:solidFill>
                <a:latin typeface="Segoe UI"/>
              </a:rPr>
              <a:t>–  Tax: TDS-only vs full compliance (Form 16/24Q)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02124"/>
                </a:solidFill>
                <a:latin typeface="Segoe UI"/>
              </a:rPr>
              <a:t>–  Loan: full lifecycle vs deduction line; Pension: integrated vs handoff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02124"/>
                </a:solidFill>
                <a:latin typeface="Segoe UI"/>
              </a:rPr>
              <a:t>–  EFMS vs bill-workflow: one engine or two; TA/DA stays out of pay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C5221F"/>
                </a:solidFill>
                <a:latin typeface="Segoe UI"/>
              </a:rPr>
              <a:t>•  Key risks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02124"/>
                </a:solidFill>
                <a:latin typeface="Segoe UI"/>
              </a:rPr>
              <a:t>–  Legacy data quality/history span · PAN completeness · module data reality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Segoe UI"/>
              </a:rPr>
              <a:t>Assam Agricultural University — ERP / Payroll  ·  High-Level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36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A73E8"/>
                </a:solidFill>
                <a:latin typeface="Segoe UI"/>
              </a:rPr>
              <a:t>•  Detailed requirement visit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–  Walk through a real monthly payroll run end-to-end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–  Collect real filled samples: payslip, bill, formulas, fund trail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–  Confirm module usage status (live / partial / unused / offline)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37333"/>
                </a:solidFill>
                <a:latin typeface="Segoe UI"/>
              </a:rPr>
              <a:t>•  Decisions to capture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–  Resolve the four contradictions; lock Phase-1 scope &amp; sign-off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–  Enumerate fund sources + actual disbursal path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E37400"/>
                </a:solidFill>
                <a:latin typeface="Segoe UI"/>
              </a:rPr>
              <a:t>•  Output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202124"/>
                </a:solidFill>
                <a:latin typeface="Segoe UI"/>
              </a:rPr>
              <a:t>–  Baselined BRD + finalized phasing → firm-up the budget estimate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Segoe UI"/>
              </a:rPr>
              <a:t>Assam Agricultural University — ERP / Payroll  ·  High-Level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36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6350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916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D2E3FC"/>
                </a:solidFill>
                <a:latin typeface="Segoe U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